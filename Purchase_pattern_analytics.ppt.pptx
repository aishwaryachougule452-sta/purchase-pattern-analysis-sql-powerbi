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75" d="100"/>
          <a:sy n="75" d="100"/>
        </p:scale>
        <p:origin x="159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S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6" y="2354670"/>
            <a:ext cx="6595533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957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2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2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8221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  <a:endParaRPr lang="en-US" sz="7200" dirty="0">
              <a:solidFill>
                <a:schemeClr val="tx1"/>
              </a:solidFill>
              <a:effectLst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  <a:endParaRPr lang="en-US" sz="7200" dirty="0">
              <a:solidFill>
                <a:schemeClr val="tx1"/>
              </a:solidFill>
              <a:effectLst/>
            </a:endParaRP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image" Target="../media/image2.png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D-PanelContent-GrommetsCombined.png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44880" y="1127760"/>
            <a:ext cx="7640320" cy="4954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DATAMITES INTERNSHIP</a:t>
            </a:r>
            <a:endParaRPr lang="en-IN" dirty="0">
              <a:solidFill>
                <a:schemeClr val="accent2">
                  <a:lumMod val="75000"/>
                </a:schemeClr>
              </a:solidFill>
            </a:endParaRPr>
          </a:p>
          <a:p>
            <a:pPr>
              <a:defRPr sz="3600" b="1">
                <a:solidFill>
                  <a:srgbClr val="000000"/>
                </a:solidFill>
              </a:defRPr>
            </a:pPr>
            <a:endParaRPr lang="en-IN" sz="2800" dirty="0"/>
          </a:p>
          <a:p>
            <a:pPr>
              <a:defRPr sz="3600" b="1">
                <a:solidFill>
                  <a:srgbClr val="000000"/>
                </a:solidFill>
              </a:defRPr>
            </a:pPr>
            <a:r>
              <a:rPr sz="2800" dirty="0">
                <a:solidFill>
                  <a:schemeClr val="accent2">
                    <a:lumMod val="75000"/>
                  </a:schemeClr>
                </a:solidFill>
              </a:rPr>
              <a:t>PURCHASE PATTERN ANALYTICS</a:t>
            </a:r>
            <a:endParaRPr sz="2800" dirty="0">
              <a:solidFill>
                <a:schemeClr val="accent2">
                  <a:lumMod val="75000"/>
                </a:schemeClr>
              </a:solidFill>
            </a:endParaRPr>
          </a:p>
          <a:p>
            <a:pPr>
              <a:defRPr sz="2000">
                <a:solidFill>
                  <a:srgbClr val="000000"/>
                </a:solidFill>
              </a:defRPr>
            </a:pPr>
            <a:endParaRPr lang="en-IN" dirty="0"/>
          </a:p>
          <a:p>
            <a:pPr algn="just">
              <a:lnSpc>
                <a:spcPct val="150000"/>
              </a:lnSpc>
              <a:defRPr sz="2000">
                <a:solidFill>
                  <a:srgbClr val="000000"/>
                </a:solidFill>
              </a:defRPr>
            </a:pPr>
            <a:r>
              <a:rPr lang="en-US" sz="2000" dirty="0">
                <a:solidFill>
                  <a:schemeClr val="accent2">
                    <a:lumMod val="50000"/>
                  </a:schemeClr>
                </a:solidFill>
              </a:rPr>
              <a:t>PROJECT TEAM ID: </a:t>
            </a:r>
            <a:r>
              <a:rPr lang="en-US" sz="2000" b="1" dirty="0">
                <a:solidFill>
                  <a:schemeClr val="accent2">
                    <a:lumMod val="50000"/>
                  </a:schemeClr>
                </a:solidFill>
              </a:rPr>
              <a:t>PTID-CDA-MAY-26-11253</a:t>
            </a:r>
            <a:endParaRPr lang="en-US" sz="2000" b="1" dirty="0">
              <a:solidFill>
                <a:schemeClr val="accent2">
                  <a:lumMod val="50000"/>
                </a:schemeClr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PROJECT ID: 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CDACL005-Purchase Pattern Analytics</a:t>
            </a:r>
            <a:endParaRPr lang="en-IN" b="1" dirty="0">
              <a:solidFill>
                <a:schemeClr val="accent2">
                  <a:lumMod val="50000"/>
                </a:schemeClr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PROJECT BY: 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AISHWARYA PRASHANT CHOUGULE</a:t>
            </a:r>
            <a:endParaRPr lang="en-IN" b="1" dirty="0">
              <a:solidFill>
                <a:schemeClr val="accent2">
                  <a:lumMod val="50000"/>
                </a:schemeClr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DATABASE MANAGEMENT SYSTEM : 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SQL SERVER</a:t>
            </a:r>
            <a:endParaRPr lang="en-IN" dirty="0">
              <a:solidFill>
                <a:schemeClr val="accent2">
                  <a:lumMod val="50000"/>
                </a:schemeClr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VISUALIZATION TOOL :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PYTHON, APRIORI ALGORITHM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,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 POWER BI</a:t>
            </a:r>
            <a:endParaRPr lang="en-IN" dirty="0">
              <a:solidFill>
                <a:schemeClr val="accent2">
                  <a:lumMod val="50000"/>
                </a:schemeClr>
              </a:solidFill>
            </a:endParaRPr>
          </a:p>
          <a:p>
            <a:pPr algn="just">
              <a:lnSpc>
                <a:spcPct val="150000"/>
              </a:lnSpc>
              <a:defRPr sz="2000">
                <a:solidFill>
                  <a:srgbClr val="000000"/>
                </a:solidFill>
              </a:defRPr>
            </a:pPr>
            <a:endParaRPr dirty="0">
              <a:solidFill>
                <a:schemeClr val="accent2">
                  <a:lumMod val="50000"/>
                </a:schemeClr>
              </a:solidFill>
            </a:endParaRPr>
          </a:p>
          <a:p>
            <a:br>
              <a:rPr dirty="0"/>
            </a:b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2815194" cy="892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0000"/>
                </a:solidFill>
              </a:defRPr>
            </a:pPr>
            <a:endParaRPr lang="en-IN" dirty="0">
              <a:solidFill>
                <a:schemeClr val="accent2">
                  <a:lumMod val="50000"/>
                </a:schemeClr>
              </a:solidFill>
            </a:endParaRPr>
          </a:p>
          <a:p>
            <a:pPr>
              <a:defRPr sz="2600" b="1">
                <a:solidFill>
                  <a:srgbClr val="000000"/>
                </a:solidFill>
              </a:defRPr>
            </a:pPr>
            <a:r>
              <a:rPr lang="en-IN" dirty="0">
                <a:solidFill>
                  <a:schemeClr val="accent3">
                    <a:lumMod val="75000"/>
                  </a:schemeClr>
                </a:solidFill>
              </a:rPr>
              <a:t>  </a:t>
            </a:r>
            <a:r>
              <a:rPr dirty="0">
                <a:solidFill>
                  <a:schemeClr val="accent3">
                    <a:lumMod val="75000"/>
                  </a:schemeClr>
                </a:solidFill>
              </a:rPr>
              <a:t>Business Context</a:t>
            </a:r>
            <a:endParaRPr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Retail customers frequently purchase multiple products together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Understanding buying patterns improves basket value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Supports cross-sell and merchandising decisions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3065326" cy="892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0000"/>
                </a:solidFill>
              </a:defRPr>
            </a:pPr>
            <a:endParaRPr lang="en-IN" dirty="0">
              <a:solidFill>
                <a:schemeClr val="accent2">
                  <a:lumMod val="50000"/>
                </a:schemeClr>
              </a:solidFill>
            </a:endParaRPr>
          </a:p>
          <a:p>
            <a:pPr>
              <a:defRPr sz="2600" b="1">
                <a:solidFill>
                  <a:srgbClr val="000000"/>
                </a:solidFill>
              </a:defRPr>
            </a:pPr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  </a:t>
            </a:r>
            <a:r>
              <a:rPr dirty="0">
                <a:solidFill>
                  <a:schemeClr val="accent3">
                    <a:lumMod val="75000"/>
                  </a:schemeClr>
                </a:solidFill>
              </a:rPr>
              <a:t>Problem Statement</a:t>
            </a:r>
            <a:endParaRPr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Identify frequently bought-together products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Analyze customer purchasing behavior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Generate actionable retail insights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2858731" cy="892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0000"/>
                </a:solidFill>
              </a:defRPr>
            </a:pPr>
            <a:endParaRPr lang="en-IN" dirty="0"/>
          </a:p>
          <a:p>
            <a:pPr>
              <a:defRPr sz="2600" b="1">
                <a:solidFill>
                  <a:srgbClr val="000000"/>
                </a:solidFill>
              </a:defRPr>
            </a:pPr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dirty="0">
                <a:solidFill>
                  <a:schemeClr val="accent3">
                    <a:lumMod val="75000"/>
                  </a:schemeClr>
                </a:solidFill>
              </a:rPr>
              <a:t>Dataset Overview</a:t>
            </a:r>
            <a:endParaRPr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rPr dirty="0"/>
              <a:t>Large retail transaction dataset</a:t>
            </a:r>
            <a:endParaRPr dirty="0"/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dirty="0"/>
              <a:t>Product, customer, quantity, price and country data</a:t>
            </a:r>
            <a:endParaRPr dirty="0"/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dirty="0"/>
              <a:t>Represents real-world retail scenarios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3098477" cy="892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0000"/>
                </a:solidFill>
              </a:defRPr>
            </a:pPr>
            <a:endParaRPr lang="en-IN" dirty="0">
              <a:solidFill>
                <a:schemeClr val="accent3">
                  <a:lumMod val="75000"/>
                </a:schemeClr>
              </a:solidFill>
            </a:endParaRPr>
          </a:p>
          <a:p>
            <a:pPr>
              <a:defRPr sz="2600" b="1">
                <a:solidFill>
                  <a:srgbClr val="000000"/>
                </a:solidFill>
              </a:defRPr>
            </a:pPr>
            <a:r>
              <a:rPr lang="en-IN" dirty="0">
                <a:solidFill>
                  <a:schemeClr val="accent3">
                    <a:lumMod val="75000"/>
                  </a:schemeClr>
                </a:solidFill>
              </a:rPr>
              <a:t>  </a:t>
            </a:r>
            <a:r>
              <a:rPr dirty="0">
                <a:solidFill>
                  <a:schemeClr val="accent3">
                    <a:lumMod val="75000"/>
                  </a:schemeClr>
                </a:solidFill>
              </a:rPr>
              <a:t>Analytics Workflow</a:t>
            </a:r>
            <a:endParaRPr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SQL for data cleaning and KPI calculation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Python for Market Basket Analysis using Apriori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Power BI for business dashboards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3031214" cy="892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0000"/>
                </a:solidFill>
              </a:defRPr>
            </a:pPr>
            <a:endParaRPr lang="en-IN" dirty="0">
              <a:solidFill>
                <a:schemeClr val="accent3">
                  <a:lumMod val="75000"/>
                </a:schemeClr>
              </a:solidFill>
            </a:endParaRPr>
          </a:p>
          <a:p>
            <a:pPr>
              <a:defRPr sz="2600" b="1">
                <a:solidFill>
                  <a:srgbClr val="000000"/>
                </a:solidFill>
              </a:defRPr>
            </a:pPr>
            <a:r>
              <a:rPr lang="en-IN" dirty="0">
                <a:solidFill>
                  <a:schemeClr val="accent3">
                    <a:lumMod val="75000"/>
                  </a:schemeClr>
                </a:solidFill>
              </a:rPr>
              <a:t>  </a:t>
            </a:r>
            <a:r>
              <a:rPr dirty="0">
                <a:solidFill>
                  <a:schemeClr val="accent3">
                    <a:lumMod val="75000"/>
                  </a:schemeClr>
                </a:solidFill>
              </a:rPr>
              <a:t>Key Business KPIs</a:t>
            </a:r>
            <a:endParaRPr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Total Revenue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Total Transactions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Average Basket Size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4462568" cy="892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0000"/>
                </a:solidFill>
              </a:defRPr>
            </a:pPr>
            <a:endParaRPr lang="en-IN" dirty="0">
              <a:solidFill>
                <a:schemeClr val="accent3">
                  <a:lumMod val="75000"/>
                </a:schemeClr>
              </a:solidFill>
            </a:endParaRPr>
          </a:p>
          <a:p>
            <a:pPr>
              <a:defRPr sz="2600" b="1">
                <a:solidFill>
                  <a:srgbClr val="000000"/>
                </a:solidFill>
              </a:defRPr>
            </a:pPr>
            <a:r>
              <a:rPr lang="en-IN" dirty="0">
                <a:solidFill>
                  <a:schemeClr val="accent3">
                    <a:lumMod val="75000"/>
                  </a:schemeClr>
                </a:solidFill>
              </a:rPr>
              <a:t>  </a:t>
            </a:r>
            <a:r>
              <a:rPr dirty="0">
                <a:solidFill>
                  <a:schemeClr val="accent3">
                    <a:lumMod val="75000"/>
                  </a:schemeClr>
                </a:solidFill>
              </a:rPr>
              <a:t>Customer Purchase Behavior</a:t>
            </a:r>
            <a:endParaRPr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Multi-item transactions dominate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Repeat customers generate higher revenue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Strong cross-sell opportunities identified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3680751" cy="892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0000"/>
                </a:solidFill>
              </a:defRPr>
            </a:pPr>
            <a:endParaRPr lang="en-IN" dirty="0">
              <a:solidFill>
                <a:schemeClr val="accent3">
                  <a:lumMod val="75000"/>
                </a:schemeClr>
              </a:solidFill>
            </a:endParaRPr>
          </a:p>
          <a:p>
            <a:pPr>
              <a:defRPr sz="2600" b="1">
                <a:solidFill>
                  <a:srgbClr val="000000"/>
                </a:solidFill>
              </a:defRPr>
            </a:pPr>
            <a:r>
              <a:rPr lang="en-IN" dirty="0">
                <a:solidFill>
                  <a:schemeClr val="accent3">
                    <a:lumMod val="75000"/>
                  </a:schemeClr>
                </a:solidFill>
              </a:rPr>
              <a:t>  Market Basket Analysis</a:t>
            </a:r>
            <a:endParaRPr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Frequent itemsets identified using Apriori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Strong associations measured using confidence and lift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Validates customer buying behavior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3155031" cy="892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0000"/>
                </a:solidFill>
              </a:defRPr>
            </a:pPr>
            <a:endParaRPr lang="en-IN" dirty="0"/>
          </a:p>
          <a:p>
            <a:pPr>
              <a:defRPr sz="2600" b="1">
                <a:solidFill>
                  <a:srgbClr val="000000"/>
                </a:solidFill>
              </a:defRPr>
            </a:pPr>
            <a:r>
              <a:rPr lang="en-IN" dirty="0"/>
              <a:t>  </a:t>
            </a:r>
            <a:r>
              <a:rPr dirty="0">
                <a:solidFill>
                  <a:schemeClr val="accent3">
                    <a:lumMod val="75000"/>
                  </a:schemeClr>
                </a:solidFill>
              </a:rPr>
              <a:t>Business Use Cases</a:t>
            </a:r>
            <a:endParaRPr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Product bundling strategies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Cross-sell and upsell recommendations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Inventory and shelf optimization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3327834" cy="892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0000"/>
                </a:solidFill>
              </a:defRPr>
            </a:pPr>
            <a:endParaRPr lang="en-IN" dirty="0">
              <a:solidFill>
                <a:schemeClr val="accent3">
                  <a:lumMod val="75000"/>
                </a:schemeClr>
              </a:solidFill>
            </a:endParaRPr>
          </a:p>
          <a:p>
            <a:pPr>
              <a:defRPr sz="2600" b="1">
                <a:solidFill>
                  <a:srgbClr val="000000"/>
                </a:solidFill>
              </a:defRPr>
            </a:pPr>
            <a:r>
              <a:rPr lang="en-IN" dirty="0">
                <a:solidFill>
                  <a:schemeClr val="accent3">
                    <a:lumMod val="75000"/>
                  </a:schemeClr>
                </a:solidFill>
              </a:rPr>
              <a:t>  </a:t>
            </a:r>
            <a:r>
              <a:rPr dirty="0">
                <a:solidFill>
                  <a:schemeClr val="accent3">
                    <a:lumMod val="75000"/>
                  </a:schemeClr>
                </a:solidFill>
              </a:rPr>
              <a:t>Geographic Insights</a:t>
            </a:r>
            <a:endParaRPr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Country-wise revenue contribution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High-performing and growth regions identified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Supports regional business planning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871025" cy="892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0000"/>
                </a:solidFill>
              </a:defRPr>
            </a:pPr>
            <a:endParaRPr lang="en-IN" dirty="0">
              <a:solidFill>
                <a:schemeClr val="accent3">
                  <a:lumMod val="75000"/>
                </a:schemeClr>
              </a:solidFill>
            </a:endParaRPr>
          </a:p>
          <a:p>
            <a:pPr>
              <a:defRPr sz="2600" b="1">
                <a:solidFill>
                  <a:srgbClr val="000000"/>
                </a:solidFill>
              </a:defRPr>
            </a:pPr>
            <a:r>
              <a:rPr lang="en-IN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dirty="0">
                <a:solidFill>
                  <a:schemeClr val="accent3">
                    <a:lumMod val="75000"/>
                  </a:schemeClr>
                </a:solidFill>
              </a:rPr>
              <a:t>Conclusion</a:t>
            </a:r>
            <a:endParaRPr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End-to-end retail analytics solution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Transforms data into business insights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Supports data-driven decision making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4"/>
      </a:accent6>
      <a:hlink>
        <a:srgbClr val="BB7826"/>
      </a:hlink>
      <a:folHlink>
        <a:srgbClr val="CF9C5F"/>
      </a:folHlink>
    </a:clrScheme>
    <a:fontScheme name="Organic">
      <a:majorFont>
        <a:latin typeface="Garamond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0</TotalTime>
  <Words>1602</Words>
  <Application>WPS Presentation</Application>
  <PresentationFormat>On-screen Show (4:3)</PresentationFormat>
  <Paragraphs>72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Arial</vt:lpstr>
      <vt:lpstr>SimSun</vt:lpstr>
      <vt:lpstr>Wingdings</vt:lpstr>
      <vt:lpstr>Arial</vt:lpstr>
      <vt:lpstr>Garamond</vt:lpstr>
      <vt:lpstr>Microsoft YaHei</vt:lpstr>
      <vt:lpstr>Arial Unicode MS</vt:lpstr>
      <vt:lpstr>Calibri</vt:lpstr>
      <vt:lpstr>Organic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Aishwarya Chougule</cp:lastModifiedBy>
  <cp:revision>4</cp:revision>
  <dcterms:created xsi:type="dcterms:W3CDTF">2013-01-27T09:14:00Z</dcterms:created>
  <dcterms:modified xsi:type="dcterms:W3CDTF">2026-07-03T06:04:39Z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83C344FAA8D149DBA4462BB2DEBE957A_12</vt:lpwstr>
  </property>
  <property fmtid="{D5CDD505-2E9C-101B-9397-08002B2CF9AE}" pid="3" name="KSOProductBuildVer">
    <vt:lpwstr>2057-12.2.0.23206</vt:lpwstr>
  </property>
</Properties>
</file>